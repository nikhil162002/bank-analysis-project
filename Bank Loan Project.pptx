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9"/>
  </p:notesMasterIdLst>
  <p:handoutMasterIdLst>
    <p:handoutMasterId r:id="rId20"/>
  </p:handoutMasterIdLst>
  <p:sldIdLst>
    <p:sldId id="312" r:id="rId5"/>
    <p:sldId id="281" r:id="rId6"/>
    <p:sldId id="323" r:id="rId7"/>
    <p:sldId id="307" r:id="rId8"/>
    <p:sldId id="322" r:id="rId9"/>
    <p:sldId id="325" r:id="rId10"/>
    <p:sldId id="329" r:id="rId11"/>
    <p:sldId id="324" r:id="rId12"/>
    <p:sldId id="330" r:id="rId13"/>
    <p:sldId id="331" r:id="rId14"/>
    <p:sldId id="332" r:id="rId15"/>
    <p:sldId id="326" r:id="rId16"/>
    <p:sldId id="319" r:id="rId17"/>
    <p:sldId id="297" r:id="rId18"/>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78" d="100"/>
          <a:sy n="78" d="100"/>
        </p:scale>
        <p:origin x="878"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643255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7855557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4188359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360229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227857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593288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611209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Bank Loan Project</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1386348" y="1214528"/>
            <a:ext cx="9419303" cy="6148989"/>
          </a:xfrm>
        </p:spPr>
        <p:txBody>
          <a:bodyPr/>
          <a:lstStyle/>
          <a:p>
            <a:r>
              <a:rPr lang="en-US" sz="2500" b="0" cap="none" spc="-150" dirty="0">
                <a:latin typeface="Calibri" panose="020F0502020204030204" pitchFamily="34" charset="0"/>
                <a:ea typeface="Calibri" panose="020F0502020204030204" pitchFamily="34" charset="0"/>
                <a:cs typeface="Calibri" panose="020F0502020204030204" pitchFamily="34" charset="0"/>
              </a:rPr>
              <a:t> </a:t>
            </a:r>
            <a:r>
              <a:rPr lang="en-US" sz="2500" b="0" u="sng" cap="none" spc="-150" dirty="0">
                <a:latin typeface="Calibri" panose="020F0502020204030204" pitchFamily="34" charset="0"/>
                <a:ea typeface="Calibri" panose="020F0502020204030204" pitchFamily="34" charset="0"/>
                <a:cs typeface="Calibri" panose="020F0502020204030204" pitchFamily="34" charset="0"/>
              </a:rPr>
              <a:t>L</a:t>
            </a:r>
            <a:r>
              <a:rPr lang="en-US" sz="2500" u="sng" cap="none" spc="-150" dirty="0">
                <a:latin typeface="Calibri" panose="020F0502020204030204" pitchFamily="34" charset="0"/>
                <a:ea typeface="Calibri" panose="020F0502020204030204" pitchFamily="34" charset="0"/>
                <a:cs typeface="Calibri" panose="020F0502020204030204" pitchFamily="34" charset="0"/>
              </a:rPr>
              <a:t>oan details</a:t>
            </a:r>
            <a:r>
              <a:rPr lang="en-US" sz="2500" b="0" cap="none" spc="-150" dirty="0">
                <a:latin typeface="Calibri" panose="020F0502020204030204" pitchFamily="34" charset="0"/>
                <a:ea typeface="Calibri" panose="020F0502020204030204" pitchFamily="34" charset="0"/>
                <a:cs typeface="Calibri" panose="020F0502020204030204" pitchFamily="34" charset="0"/>
              </a:rPr>
              <a:t>: The dataset contains key information such as loan amounts, interest rates, terms, and installments for various loans.</a:t>
            </a:r>
            <a:br>
              <a:rPr lang="en-US" sz="2500" b="0" cap="none" spc="-150" dirty="0">
                <a:latin typeface="Calibri" panose="020F0502020204030204" pitchFamily="34" charset="0"/>
                <a:ea typeface="Calibri" panose="020F0502020204030204" pitchFamily="34" charset="0"/>
                <a:cs typeface="Calibri" panose="020F0502020204030204" pitchFamily="34" charset="0"/>
              </a:rPr>
            </a:br>
            <a:r>
              <a:rPr lang="en-US" sz="2500" cap="none" spc="-150" dirty="0">
                <a:latin typeface="Calibri" panose="020F0502020204030204" pitchFamily="34" charset="0"/>
                <a:ea typeface="Calibri" panose="020F0502020204030204" pitchFamily="34" charset="0"/>
                <a:cs typeface="Calibri" panose="020F0502020204030204" pitchFamily="34" charset="0"/>
              </a:rPr>
              <a:t> </a:t>
            </a:r>
            <a:r>
              <a:rPr lang="en-US" sz="2500" u="sng" cap="none" spc="-150" dirty="0">
                <a:latin typeface="Calibri" panose="020F0502020204030204" pitchFamily="34" charset="0"/>
                <a:ea typeface="Calibri" panose="020F0502020204030204" pitchFamily="34" charset="0"/>
                <a:cs typeface="Calibri" panose="020F0502020204030204" pitchFamily="34" charset="0"/>
              </a:rPr>
              <a:t>Borrower information</a:t>
            </a:r>
            <a:r>
              <a:rPr lang="en-US" sz="2500" b="0" cap="none" spc="-150" dirty="0">
                <a:latin typeface="Calibri" panose="020F0502020204030204" pitchFamily="34" charset="0"/>
                <a:ea typeface="Calibri" panose="020F0502020204030204" pitchFamily="34" charset="0"/>
                <a:cs typeface="Calibri" panose="020F0502020204030204" pitchFamily="34" charset="0"/>
              </a:rPr>
              <a:t>: Includes member ids, verification status, and loan purpose (e.g., debt consolidation, credit card payoff).</a:t>
            </a:r>
            <a:br>
              <a:rPr lang="en-US" sz="2500" b="0" cap="none" spc="-150" dirty="0">
                <a:latin typeface="Calibri" panose="020F0502020204030204" pitchFamily="34" charset="0"/>
                <a:ea typeface="Calibri" panose="020F0502020204030204" pitchFamily="34" charset="0"/>
                <a:cs typeface="Calibri" panose="020F0502020204030204" pitchFamily="34" charset="0"/>
              </a:rPr>
            </a:br>
            <a:r>
              <a:rPr lang="en-US" sz="2500" b="0" u="sng" cap="none" spc="-150" dirty="0">
                <a:latin typeface="Calibri" panose="020F0502020204030204" pitchFamily="34" charset="0"/>
                <a:ea typeface="Calibri" panose="020F0502020204030204" pitchFamily="34" charset="0"/>
                <a:cs typeface="Calibri" panose="020F0502020204030204" pitchFamily="34" charset="0"/>
              </a:rPr>
              <a:t>L</a:t>
            </a:r>
            <a:r>
              <a:rPr lang="en-US" sz="2500" u="sng" cap="none" spc="-150" dirty="0">
                <a:latin typeface="Calibri" panose="020F0502020204030204" pitchFamily="34" charset="0"/>
                <a:ea typeface="Calibri" panose="020F0502020204030204" pitchFamily="34" charset="0"/>
                <a:cs typeface="Calibri" panose="020F0502020204030204" pitchFamily="34" charset="0"/>
              </a:rPr>
              <a:t>oan grades</a:t>
            </a:r>
            <a:r>
              <a:rPr lang="en-US" sz="2500" b="0" cap="none" spc="-150" dirty="0">
                <a:latin typeface="Calibri" panose="020F0502020204030204" pitchFamily="34" charset="0"/>
                <a:ea typeface="Calibri" panose="020F0502020204030204" pitchFamily="34" charset="0"/>
                <a:cs typeface="Calibri" panose="020F0502020204030204" pitchFamily="34" charset="0"/>
              </a:rPr>
              <a:t>: Each loan is categorized into grades and sub-grades, reflecting the borrower's credit risk.</a:t>
            </a:r>
            <a:br>
              <a:rPr lang="en-US" sz="2500" b="0" cap="none" spc="-150" dirty="0">
                <a:latin typeface="Calibri" panose="020F0502020204030204" pitchFamily="34" charset="0"/>
                <a:ea typeface="Calibri" panose="020F0502020204030204" pitchFamily="34" charset="0"/>
                <a:cs typeface="Calibri" panose="020F0502020204030204" pitchFamily="34" charset="0"/>
              </a:rPr>
            </a:br>
            <a:r>
              <a:rPr lang="en-US" sz="2500" u="sng" cap="none" spc="-150" dirty="0">
                <a:latin typeface="Calibri" panose="020F0502020204030204" pitchFamily="34" charset="0"/>
                <a:ea typeface="Calibri" panose="020F0502020204030204" pitchFamily="34" charset="0"/>
                <a:cs typeface="Calibri" panose="020F0502020204030204" pitchFamily="34" charset="0"/>
              </a:rPr>
              <a:t>Payment status</a:t>
            </a:r>
            <a:r>
              <a:rPr lang="en-US" sz="2500" b="0" cap="none" spc="-150" dirty="0">
                <a:latin typeface="Calibri" panose="020F0502020204030204" pitchFamily="34" charset="0"/>
                <a:ea typeface="Calibri" panose="020F0502020204030204" pitchFamily="34" charset="0"/>
                <a:cs typeface="Calibri" panose="020F0502020204030204" pitchFamily="34" charset="0"/>
              </a:rPr>
              <a:t>: Contains data on loan statuses (e.g., fully paid), along with zip codes and state information of the borrowers.</a:t>
            </a:r>
            <a:br>
              <a:rPr lang="en-US" sz="2500" b="0" cap="none" spc="-150" dirty="0">
                <a:latin typeface="Calibri" panose="020F0502020204030204" pitchFamily="34" charset="0"/>
                <a:ea typeface="Calibri" panose="020F0502020204030204" pitchFamily="34" charset="0"/>
                <a:cs typeface="Calibri" panose="020F0502020204030204" pitchFamily="34" charset="0"/>
              </a:rPr>
            </a:br>
            <a:r>
              <a:rPr lang="en-US" sz="2500" u="sng" cap="none" spc="-150" dirty="0">
                <a:latin typeface="Calibri" panose="020F0502020204030204" pitchFamily="34" charset="0"/>
                <a:ea typeface="Calibri" panose="020F0502020204030204" pitchFamily="34" charset="0"/>
                <a:cs typeface="Calibri" panose="020F0502020204030204" pitchFamily="34" charset="0"/>
              </a:rPr>
              <a:t>Issue date</a:t>
            </a:r>
            <a:r>
              <a:rPr lang="en-US" sz="2500" b="0" cap="none" spc="-150" dirty="0">
                <a:latin typeface="Calibri" panose="020F0502020204030204" pitchFamily="34" charset="0"/>
                <a:ea typeface="Calibri" panose="020F0502020204030204" pitchFamily="34" charset="0"/>
                <a:cs typeface="Calibri" panose="020F0502020204030204" pitchFamily="34" charset="0"/>
              </a:rPr>
              <a:t>: The dataset includes loan issuance dates, providing a timeline of when loans were granted.</a:t>
            </a:r>
            <a:br>
              <a:rPr lang="en-US" sz="2500" b="0" cap="none" spc="-150" dirty="0">
                <a:latin typeface="Calibri" panose="020F0502020204030204" pitchFamily="34" charset="0"/>
                <a:ea typeface="Calibri" panose="020F0502020204030204" pitchFamily="34" charset="0"/>
                <a:cs typeface="Calibri" panose="020F0502020204030204" pitchFamily="34" charset="0"/>
              </a:rPr>
            </a:br>
            <a:br>
              <a:rPr lang="en-US" sz="2500" b="0" cap="none" spc="-150" dirty="0">
                <a:latin typeface="Calibri" panose="020F0502020204030204" pitchFamily="34" charset="0"/>
                <a:ea typeface="Calibri" panose="020F0502020204030204" pitchFamily="34" charset="0"/>
                <a:cs typeface="Calibri" panose="020F0502020204030204" pitchFamily="34" charset="0"/>
              </a:rPr>
            </a:br>
            <a:br>
              <a:rPr lang="en-US" sz="2500" b="0" cap="none" spc="-150" dirty="0">
                <a:latin typeface="Calibri" panose="020F0502020204030204" pitchFamily="34" charset="0"/>
                <a:ea typeface="Calibri" panose="020F0502020204030204" pitchFamily="34" charset="0"/>
                <a:cs typeface="Calibri" panose="020F0502020204030204" pitchFamily="34" charset="0"/>
              </a:rPr>
            </a:br>
            <a:br>
              <a:rPr lang="en-IN" sz="2500" b="0" cap="none" spc="-150" dirty="0">
                <a:latin typeface="Calibri" panose="020F0502020204030204" pitchFamily="34" charset="0"/>
                <a:ea typeface="Calibri" panose="020F0502020204030204" pitchFamily="34" charset="0"/>
                <a:cs typeface="Calibri" panose="020F0502020204030204" pitchFamily="34" charset="0"/>
              </a:rPr>
            </a:br>
            <a:endParaRPr lang="en-US" sz="2500" spc="-15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039CDA7E-4AFA-5DC3-EE44-1FA96E6428D2}"/>
              </a:ext>
            </a:extLst>
          </p:cNvPr>
          <p:cNvSpPr txBox="1"/>
          <p:nvPr/>
        </p:nvSpPr>
        <p:spPr>
          <a:xfrm>
            <a:off x="4503174" y="631411"/>
            <a:ext cx="6105832" cy="584775"/>
          </a:xfrm>
          <a:prstGeom prst="rect">
            <a:avLst/>
          </a:prstGeom>
          <a:noFill/>
        </p:spPr>
        <p:txBody>
          <a:bodyPr wrap="square">
            <a:spAutoFit/>
          </a:bodyPr>
          <a:lstStyle/>
          <a:p>
            <a:r>
              <a:rPr lang="en-IN" sz="3200" b="1" dirty="0">
                <a:solidFill>
                  <a:srgbClr val="002060"/>
                </a:solidFill>
              </a:rPr>
              <a:t>Introduction</a:t>
            </a:r>
            <a:endParaRPr lang="en-IN" sz="3200" dirty="0">
              <a:solidFill>
                <a:srgbClr val="002060"/>
              </a:solidFill>
            </a:endParaRPr>
          </a:p>
        </p:txBody>
      </p:sp>
    </p:spTree>
    <p:extLst>
      <p:ext uri="{BB962C8B-B14F-4D97-AF65-F5344CB8AC3E}">
        <p14:creationId xmlns:p14="http://schemas.microsoft.com/office/powerpoint/2010/main" val="2952923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95B49-CB34-B688-169F-8D4BB2C1BF4B}"/>
              </a:ext>
            </a:extLst>
          </p:cNvPr>
          <p:cNvSpPr>
            <a:spLocks noGrp="1"/>
          </p:cNvSpPr>
          <p:nvPr>
            <p:ph type="title"/>
          </p:nvPr>
        </p:nvSpPr>
        <p:spPr>
          <a:xfrm>
            <a:off x="147483" y="540512"/>
            <a:ext cx="11267767" cy="5319513"/>
          </a:xfrm>
        </p:spPr>
        <p:txBody>
          <a:bodyPr/>
          <a:lstStyle/>
          <a:p>
            <a:pPr marL="342900" indent="-342900"/>
            <a:r>
              <a:rPr lang="en-US" sz="2200" cap="none" dirty="0">
                <a:latin typeface="Calibri" panose="020F0502020204030204" pitchFamily="34" charset="0"/>
                <a:ea typeface="Calibri" panose="020F0502020204030204" pitchFamily="34" charset="0"/>
                <a:cs typeface="Calibri" panose="020F0502020204030204" pitchFamily="34" charset="0"/>
              </a:rPr>
              <a:t>    </a:t>
            </a:r>
            <a:br>
              <a:rPr lang="en-US" sz="2200" cap="none" dirty="0">
                <a:latin typeface="Calibri" panose="020F0502020204030204" pitchFamily="34" charset="0"/>
                <a:ea typeface="Calibri" panose="020F0502020204030204" pitchFamily="34" charset="0"/>
                <a:cs typeface="Calibri" panose="020F0502020204030204" pitchFamily="34" charset="0"/>
              </a:rPr>
            </a:br>
            <a:br>
              <a:rPr lang="en-US" sz="2200" cap="none" dirty="0">
                <a:latin typeface="Calibri" panose="020F0502020204030204" pitchFamily="34" charset="0"/>
                <a:ea typeface="Calibri" panose="020F0502020204030204" pitchFamily="34" charset="0"/>
                <a:cs typeface="Calibri" panose="020F0502020204030204" pitchFamily="34" charset="0"/>
              </a:rPr>
            </a:br>
            <a:br>
              <a:rPr lang="en-US" sz="2200" cap="none" dirty="0">
                <a:latin typeface="Calibri" panose="020F0502020204030204" pitchFamily="34" charset="0"/>
                <a:ea typeface="Calibri" panose="020F0502020204030204" pitchFamily="34" charset="0"/>
                <a:cs typeface="Calibri" panose="020F0502020204030204" pitchFamily="34" charset="0"/>
              </a:rPr>
            </a:br>
            <a:br>
              <a:rPr lang="en-US" sz="2200" cap="none" dirty="0">
                <a:latin typeface="Calibri" panose="020F0502020204030204" pitchFamily="34" charset="0"/>
                <a:ea typeface="Calibri" panose="020F0502020204030204" pitchFamily="34" charset="0"/>
                <a:cs typeface="Calibri" panose="020F0502020204030204" pitchFamily="34" charset="0"/>
              </a:rPr>
            </a:br>
            <a:r>
              <a:rPr lang="en-US" sz="2200" u="sng" cap="none" dirty="0">
                <a:latin typeface="Calibri" panose="020F0502020204030204" pitchFamily="34" charset="0"/>
                <a:ea typeface="Calibri" panose="020F0502020204030204" pitchFamily="34" charset="0"/>
                <a:cs typeface="Calibri" panose="020F0502020204030204" pitchFamily="34" charset="0"/>
              </a:rPr>
              <a:t>Objective</a:t>
            </a:r>
            <a:r>
              <a:rPr lang="en-US" sz="2200" b="0" cap="none" dirty="0">
                <a:latin typeface="Calibri" panose="020F0502020204030204" pitchFamily="34" charset="0"/>
                <a:ea typeface="Calibri" panose="020F0502020204030204" pitchFamily="34" charset="0"/>
                <a:cs typeface="Calibri" panose="020F0502020204030204" pitchFamily="34" charset="0"/>
              </a:rPr>
              <a:t>: Analyze key KPIs like year-wise loan amounts, grade-wise revolving balances, and payments by verification status to understand loan performance.</a:t>
            </a:r>
            <a:br>
              <a:rPr lang="en-US" sz="2200" b="0" cap="none" dirty="0">
                <a:latin typeface="Calibri" panose="020F0502020204030204" pitchFamily="34" charset="0"/>
                <a:ea typeface="Calibri" panose="020F0502020204030204" pitchFamily="34" charset="0"/>
                <a:cs typeface="Calibri" panose="020F0502020204030204" pitchFamily="34" charset="0"/>
              </a:rPr>
            </a:br>
            <a:r>
              <a:rPr lang="en-US" sz="2200" u="sng" cap="none" dirty="0">
                <a:latin typeface="Calibri" panose="020F0502020204030204" pitchFamily="34" charset="0"/>
                <a:ea typeface="Calibri" panose="020F0502020204030204" pitchFamily="34" charset="0"/>
                <a:cs typeface="Calibri" panose="020F0502020204030204" pitchFamily="34" charset="0"/>
              </a:rPr>
              <a:t>Key insights</a:t>
            </a:r>
            <a:r>
              <a:rPr lang="en-US" sz="2200" b="0" cap="none" dirty="0">
                <a:latin typeface="Calibri" panose="020F0502020204030204" pitchFamily="34" charset="0"/>
                <a:ea typeface="Calibri" panose="020F0502020204030204" pitchFamily="34" charset="0"/>
                <a:cs typeface="Calibri" panose="020F0502020204030204" pitchFamily="34" charset="0"/>
              </a:rPr>
              <a:t>: The analysis reveals trends in loan issuance, payment patterns across different verification statuses, and the impact of homeownership on repayment behavior.</a:t>
            </a:r>
            <a:br>
              <a:rPr lang="en-US" sz="2200" b="0" cap="none" dirty="0">
                <a:latin typeface="Calibri" panose="020F0502020204030204" pitchFamily="34" charset="0"/>
                <a:ea typeface="Calibri" panose="020F0502020204030204" pitchFamily="34" charset="0"/>
                <a:cs typeface="Calibri" panose="020F0502020204030204" pitchFamily="34" charset="0"/>
              </a:rPr>
            </a:br>
            <a:r>
              <a:rPr lang="en-US" sz="2200" u="sng" cap="none" dirty="0">
                <a:latin typeface="Calibri" panose="020F0502020204030204" pitchFamily="34" charset="0"/>
                <a:ea typeface="Calibri" panose="020F0502020204030204" pitchFamily="34" charset="0"/>
                <a:cs typeface="Calibri" panose="020F0502020204030204" pitchFamily="34" charset="0"/>
              </a:rPr>
              <a:t>Techniques</a:t>
            </a:r>
            <a:r>
              <a:rPr lang="en-US" sz="2200" b="0" cap="none" dirty="0">
                <a:latin typeface="Calibri" panose="020F0502020204030204" pitchFamily="34" charset="0"/>
                <a:ea typeface="Calibri" panose="020F0502020204030204" pitchFamily="34" charset="0"/>
                <a:cs typeface="Calibri" panose="020F0502020204030204" pitchFamily="34" charset="0"/>
              </a:rPr>
              <a:t>: Aggregation, grouping, and joins were used in </a:t>
            </a:r>
            <a:r>
              <a:rPr lang="en-US" sz="2200" b="0" cap="none" dirty="0" err="1">
                <a:latin typeface="Calibri" panose="020F0502020204030204" pitchFamily="34" charset="0"/>
                <a:ea typeface="Calibri" panose="020F0502020204030204" pitchFamily="34" charset="0"/>
                <a:cs typeface="Calibri" panose="020F0502020204030204" pitchFamily="34" charset="0"/>
              </a:rPr>
              <a:t>sql</a:t>
            </a:r>
            <a:r>
              <a:rPr lang="en-US" sz="2200" b="0" cap="none" dirty="0">
                <a:latin typeface="Calibri" panose="020F0502020204030204" pitchFamily="34" charset="0"/>
                <a:ea typeface="Calibri" panose="020F0502020204030204" pitchFamily="34" charset="0"/>
                <a:cs typeface="Calibri" panose="020F0502020204030204" pitchFamily="34" charset="0"/>
              </a:rPr>
              <a:t> queries to summarize the data for actionable insights.</a:t>
            </a:r>
            <a:br>
              <a:rPr lang="en-US" sz="2200" b="0" cap="none" dirty="0">
                <a:latin typeface="Calibri" panose="020F0502020204030204" pitchFamily="34" charset="0"/>
                <a:ea typeface="Calibri" panose="020F0502020204030204" pitchFamily="34" charset="0"/>
                <a:cs typeface="Calibri" panose="020F0502020204030204" pitchFamily="34" charset="0"/>
              </a:rPr>
            </a:br>
            <a:r>
              <a:rPr lang="en-US" sz="2200" u="sng" cap="none" dirty="0">
                <a:latin typeface="Calibri" panose="020F0502020204030204" pitchFamily="34" charset="0"/>
                <a:ea typeface="Calibri" panose="020F0502020204030204" pitchFamily="34" charset="0"/>
                <a:cs typeface="Calibri" panose="020F0502020204030204" pitchFamily="34" charset="0"/>
              </a:rPr>
              <a:t>SAM model</a:t>
            </a:r>
            <a:r>
              <a:rPr lang="en-US" sz="2200" b="0" cap="none" dirty="0">
                <a:latin typeface="Calibri" panose="020F0502020204030204" pitchFamily="34" charset="0"/>
                <a:ea typeface="Calibri" panose="020F0502020204030204" pitchFamily="34" charset="0"/>
                <a:cs typeface="Calibri" panose="020F0502020204030204" pitchFamily="34" charset="0"/>
              </a:rPr>
              <a:t>:</a:t>
            </a:r>
            <a:br>
              <a:rPr lang="en-US" sz="2200" b="0" cap="none" dirty="0">
                <a:latin typeface="Calibri" panose="020F0502020204030204" pitchFamily="34" charset="0"/>
                <a:ea typeface="Calibri" panose="020F0502020204030204" pitchFamily="34" charset="0"/>
                <a:cs typeface="Calibri" panose="020F0502020204030204" pitchFamily="34" charset="0"/>
              </a:rPr>
            </a:br>
            <a:r>
              <a:rPr lang="en-US" sz="2200" b="0" cap="none" dirty="0">
                <a:latin typeface="Calibri" panose="020F0502020204030204" pitchFamily="34" charset="0"/>
                <a:ea typeface="Calibri" panose="020F0502020204030204" pitchFamily="34" charset="0"/>
                <a:cs typeface="Calibri" panose="020F0502020204030204" pitchFamily="34" charset="0"/>
              </a:rPr>
              <a:t>S for storing data: efficiently store bank loan data in structured databases.</a:t>
            </a:r>
            <a:br>
              <a:rPr lang="en-US" sz="2200" b="0" cap="none" dirty="0">
                <a:latin typeface="Calibri" panose="020F0502020204030204" pitchFamily="34" charset="0"/>
                <a:ea typeface="Calibri" panose="020F0502020204030204" pitchFamily="34" charset="0"/>
                <a:cs typeface="Calibri" panose="020F0502020204030204" pitchFamily="34" charset="0"/>
              </a:rPr>
            </a:br>
            <a:r>
              <a:rPr lang="en-US" sz="2200" b="0" cap="none" dirty="0">
                <a:latin typeface="Calibri" panose="020F0502020204030204" pitchFamily="34" charset="0"/>
                <a:ea typeface="Calibri" panose="020F0502020204030204" pitchFamily="34" charset="0"/>
                <a:cs typeface="Calibri" panose="020F0502020204030204" pitchFamily="34" charset="0"/>
              </a:rPr>
              <a:t>A for analyzing data: use SQL queries to extract and interpret key insights.</a:t>
            </a:r>
            <a:br>
              <a:rPr lang="en-US" sz="2200" b="0" cap="none" dirty="0">
                <a:latin typeface="Calibri" panose="020F0502020204030204" pitchFamily="34" charset="0"/>
                <a:ea typeface="Calibri" panose="020F0502020204030204" pitchFamily="34" charset="0"/>
                <a:cs typeface="Calibri" panose="020F0502020204030204" pitchFamily="34" charset="0"/>
              </a:rPr>
            </a:br>
            <a:r>
              <a:rPr lang="en-US" sz="2200" b="0" cap="none" dirty="0">
                <a:latin typeface="Calibri" panose="020F0502020204030204" pitchFamily="34" charset="0"/>
                <a:ea typeface="Calibri" panose="020F0502020204030204" pitchFamily="34" charset="0"/>
                <a:cs typeface="Calibri" panose="020F0502020204030204" pitchFamily="34" charset="0"/>
              </a:rPr>
              <a:t>M for modifying data: clean and modify data for better analysis and reporting.</a:t>
            </a:r>
            <a:br>
              <a:rPr lang="en-IN" sz="2200" b="0" cap="none" dirty="0">
                <a:latin typeface="Calibri" panose="020F0502020204030204" pitchFamily="34" charset="0"/>
                <a:ea typeface="Calibri" panose="020F0502020204030204" pitchFamily="34" charset="0"/>
                <a:cs typeface="Calibri" panose="020F0502020204030204" pitchFamily="34" charset="0"/>
              </a:rPr>
            </a:br>
            <a:endParaRPr lang="en-IN" sz="2200" b="0" cap="none"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2FB8AA9-C965-80AF-A35E-44DD8A76569D}"/>
              </a:ext>
            </a:extLst>
          </p:cNvPr>
          <p:cNvSpPr txBox="1"/>
          <p:nvPr/>
        </p:nvSpPr>
        <p:spPr>
          <a:xfrm>
            <a:off x="3060291" y="515309"/>
            <a:ext cx="6710516" cy="553998"/>
          </a:xfrm>
          <a:prstGeom prst="rect">
            <a:avLst/>
          </a:prstGeom>
          <a:noFill/>
        </p:spPr>
        <p:txBody>
          <a:bodyPr wrap="square">
            <a:spAutoFit/>
          </a:bodyPr>
          <a:lstStyle/>
          <a:p>
            <a:pPr algn="ctr"/>
            <a:r>
              <a:rPr lang="en-US" sz="3000" dirty="0">
                <a:solidFill>
                  <a:srgbClr val="202C8F"/>
                </a:solidFill>
                <a:latin typeface="+mj-lt"/>
              </a:rPr>
              <a:t>SQL syntax and key highlights</a:t>
            </a:r>
            <a:endParaRPr lang="en-IN" sz="3000" dirty="0">
              <a:solidFill>
                <a:srgbClr val="202C8F"/>
              </a:solidFill>
              <a:latin typeface="+mj-lt"/>
            </a:endParaRPr>
          </a:p>
        </p:txBody>
      </p:sp>
    </p:spTree>
    <p:extLst>
      <p:ext uri="{BB962C8B-B14F-4D97-AF65-F5344CB8AC3E}">
        <p14:creationId xmlns:p14="http://schemas.microsoft.com/office/powerpoint/2010/main" val="4076556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3342025" y="334295"/>
            <a:ext cx="5988788" cy="604685"/>
          </a:xfrm>
        </p:spPr>
        <p:txBody>
          <a:bodyPr/>
          <a:lstStyle/>
          <a:p>
            <a:r>
              <a:rPr lang="en-US" sz="2400" dirty="0">
                <a:solidFill>
                  <a:srgbClr val="002060"/>
                </a:solidFill>
                <a:latin typeface="Bell MT" panose="02020503060305020303" pitchFamily="18" charset="0"/>
              </a:rPr>
              <a:t>Year wise loan amount stats</a:t>
            </a:r>
            <a:endParaRPr lang="en-US" sz="2400" b="0" cap="none" dirty="0">
              <a:solidFill>
                <a:srgbClr val="002060"/>
              </a:solidFill>
              <a:latin typeface="Bell MT" panose="02020503060305020303" pitchFamily="18" charset="0"/>
              <a:ea typeface="Calibri" panose="020F0502020204030204" pitchFamily="34" charset="0"/>
              <a:cs typeface="Calibri" panose="020F0502020204030204" pitchFamily="34" charset="0"/>
            </a:endParaRPr>
          </a:p>
        </p:txBody>
      </p:sp>
      <p:pic>
        <p:nvPicPr>
          <p:cNvPr id="5" name="Picture Placeholder 4">
            <a:extLst>
              <a:ext uri="{FF2B5EF4-FFF2-40B4-BE49-F238E27FC236}">
                <a16:creationId xmlns:a16="http://schemas.microsoft.com/office/drawing/2014/main" id="{554507C3-E17C-8B95-DB92-06E8AB949D14}"/>
              </a:ext>
            </a:extLst>
          </p:cNvPr>
          <p:cNvPicPr>
            <a:picLocks noGrp="1" noChangeAspect="1"/>
          </p:cNvPicPr>
          <p:nvPr>
            <p:ph type="pic" sz="quarter" idx="11"/>
          </p:nvPr>
        </p:nvPicPr>
        <p:blipFill rotWithShape="1">
          <a:blip r:embed="rId3" cstate="print">
            <a:extLst>
              <a:ext uri="{28A0092B-C50C-407E-A947-70E740481C1C}">
                <a14:useLocalDpi xmlns:a14="http://schemas.microsoft.com/office/drawing/2010/main" val="0"/>
              </a:ext>
            </a:extLst>
          </a:blip>
          <a:srcRect t="10375" b="10375"/>
          <a:stretch/>
        </p:blipFill>
        <p:spPr bwMode="auto">
          <a:xfrm>
            <a:off x="950859" y="1268361"/>
            <a:ext cx="10427934" cy="465065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06491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1425677" y="683111"/>
            <a:ext cx="9124336" cy="604915"/>
          </a:xfrm>
        </p:spPr>
        <p:txBody>
          <a:bodyPr/>
          <a:lstStyle/>
          <a:p>
            <a:r>
              <a:rPr lang="en-US" sz="2600" dirty="0">
                <a:solidFill>
                  <a:srgbClr val="202C8F"/>
                </a:solidFill>
                <a:latin typeface="Bell MT" panose="02020503060305020303" pitchFamily="18" charset="0"/>
              </a:rPr>
              <a:t>Grade and subgrade wise </a:t>
            </a:r>
            <a:r>
              <a:rPr lang="en-US" sz="2600" dirty="0" err="1">
                <a:solidFill>
                  <a:srgbClr val="202C8F"/>
                </a:solidFill>
                <a:latin typeface="Bell MT" panose="02020503060305020303" pitchFamily="18" charset="0"/>
              </a:rPr>
              <a:t>Revol_bal</a:t>
            </a:r>
            <a:endParaRPr lang="en-IN" sz="2600" dirty="0">
              <a:solidFill>
                <a:srgbClr val="202C8F"/>
              </a:solidFill>
              <a:latin typeface="Bell MT" panose="02020503060305020303" pitchFamily="18" charset="0"/>
            </a:endParaRPr>
          </a:p>
        </p:txBody>
      </p:sp>
      <p:pic>
        <p:nvPicPr>
          <p:cNvPr id="7" name="Content Placeholder 6">
            <a:extLst>
              <a:ext uri="{FF2B5EF4-FFF2-40B4-BE49-F238E27FC236}">
                <a16:creationId xmlns:a16="http://schemas.microsoft.com/office/drawing/2014/main" id="{5D9F1314-511B-4429-0D67-878822830E25}"/>
              </a:ext>
            </a:extLst>
          </p:cNvPr>
          <p:cNvPicPr>
            <a:picLocks noGrp="1" noChangeAspect="1"/>
          </p:cNvPicPr>
          <p:nvPr>
            <p:ph sz="quarter" idx="4"/>
          </p:nvPr>
        </p:nvPicPr>
        <p:blipFill rotWithShape="1">
          <a:blip r:embed="rId3" cstate="print">
            <a:extLst>
              <a:ext uri="{28A0092B-C50C-407E-A947-70E740481C1C}">
                <a14:useLocalDpi xmlns:a14="http://schemas.microsoft.com/office/drawing/2010/main" val="0"/>
              </a:ext>
            </a:extLst>
          </a:blip>
          <a:srcRect l="14625" t="21666" r="8262" b="20623"/>
          <a:stretch/>
        </p:blipFill>
        <p:spPr bwMode="auto">
          <a:xfrm>
            <a:off x="643401" y="1632156"/>
            <a:ext cx="10905197" cy="4768646"/>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1686213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771832" y="1799304"/>
            <a:ext cx="10648335" cy="4768644"/>
          </a:xfrm>
        </p:spPr>
        <p:txBody>
          <a:bodyPr/>
          <a:lstStyle/>
          <a:p>
            <a:r>
              <a:rPr lang="en-US" sz="2200" b="0" u="sng" cap="none" dirty="0">
                <a:latin typeface="Sabon Next LT (Body)"/>
                <a:ea typeface="Calibri" panose="020F0502020204030204" pitchFamily="34" charset="0"/>
                <a:cs typeface="Calibri" panose="020F0502020204030204" pitchFamily="34" charset="0"/>
              </a:rPr>
              <a:t>Loan Distribution by Amount and Term</a:t>
            </a:r>
            <a:r>
              <a:rPr lang="en-US" sz="2200" b="0" cap="none" dirty="0">
                <a:latin typeface="Sabon Next LT (Body)"/>
                <a:ea typeface="Calibri" panose="020F0502020204030204" pitchFamily="34" charset="0"/>
                <a:cs typeface="Calibri" panose="020F0502020204030204" pitchFamily="34" charset="0"/>
              </a:rPr>
              <a:t>: The dashboard provides a breakdown of loans by the amount issued and loan terms (e.g., 36 months), highlighting the most common loan structures.</a:t>
            </a:r>
            <a:br>
              <a:rPr lang="en-US" sz="2200" b="0" cap="none" dirty="0">
                <a:latin typeface="Sabon Next LT (Body)"/>
                <a:ea typeface="Calibri" panose="020F0502020204030204" pitchFamily="34" charset="0"/>
                <a:cs typeface="Calibri" panose="020F0502020204030204" pitchFamily="34" charset="0"/>
              </a:rPr>
            </a:br>
            <a:r>
              <a:rPr lang="en-US" sz="2200" b="0" u="sng" cap="none" dirty="0">
                <a:latin typeface="Sabon Next LT (Body)"/>
                <a:ea typeface="Calibri" panose="020F0502020204030204" pitchFamily="34" charset="0"/>
                <a:cs typeface="Calibri" panose="020F0502020204030204" pitchFamily="34" charset="0"/>
              </a:rPr>
              <a:t>Interest Rate Analysis</a:t>
            </a:r>
            <a:r>
              <a:rPr lang="en-US" sz="2200" b="0" cap="none" dirty="0">
                <a:latin typeface="Sabon Next LT (Body)"/>
                <a:ea typeface="Calibri" panose="020F0502020204030204" pitchFamily="34" charset="0"/>
                <a:cs typeface="Calibri" panose="020F0502020204030204" pitchFamily="34" charset="0"/>
              </a:rPr>
              <a:t>: It showcases how interest rates vary across different loan grades and sub-grades, providing insights into credit risk and pricing strategies.</a:t>
            </a:r>
            <a:br>
              <a:rPr lang="en-US" sz="2200" b="0" cap="none" dirty="0">
                <a:latin typeface="Sabon Next LT (Body)"/>
                <a:ea typeface="Calibri" panose="020F0502020204030204" pitchFamily="34" charset="0"/>
                <a:cs typeface="Calibri" panose="020F0502020204030204" pitchFamily="34" charset="0"/>
              </a:rPr>
            </a:br>
            <a:r>
              <a:rPr lang="en-US" sz="2200" b="0" u="sng" cap="none" dirty="0">
                <a:latin typeface="Sabon Next LT (Body)"/>
                <a:ea typeface="Calibri" panose="020F0502020204030204" pitchFamily="34" charset="0"/>
                <a:cs typeface="Calibri" panose="020F0502020204030204" pitchFamily="34" charset="0"/>
              </a:rPr>
              <a:t>Geographical Insights</a:t>
            </a:r>
            <a:r>
              <a:rPr lang="en-US" sz="2200" b="0" cap="none" dirty="0">
                <a:latin typeface="Sabon Next LT (Body)"/>
                <a:ea typeface="Calibri" panose="020F0502020204030204" pitchFamily="34" charset="0"/>
                <a:cs typeface="Calibri" panose="020F0502020204030204" pitchFamily="34" charset="0"/>
              </a:rPr>
              <a:t>: The dashboard includes data on borrower locations (zip codes and states), offering a view of regional lending patterns and trends.</a:t>
            </a:r>
            <a:br>
              <a:rPr lang="en-US" sz="2200" b="0" cap="none" dirty="0">
                <a:latin typeface="Sabon Next LT (Body)"/>
                <a:ea typeface="Calibri" panose="020F0502020204030204" pitchFamily="34" charset="0"/>
                <a:cs typeface="Calibri" panose="020F0502020204030204" pitchFamily="34" charset="0"/>
              </a:rPr>
            </a:br>
            <a:r>
              <a:rPr lang="en-US" sz="2200" b="0" u="sng" cap="none" dirty="0">
                <a:latin typeface="Sabon Next LT (Body)"/>
                <a:ea typeface="Calibri" panose="020F0502020204030204" pitchFamily="34" charset="0"/>
                <a:cs typeface="Calibri" panose="020F0502020204030204" pitchFamily="34" charset="0"/>
              </a:rPr>
              <a:t>Loan Purpose and Status</a:t>
            </a:r>
            <a:r>
              <a:rPr lang="en-US" sz="2200" b="0" cap="none" dirty="0">
                <a:latin typeface="Sabon Next LT (Body)"/>
                <a:ea typeface="Calibri" panose="020F0502020204030204" pitchFamily="34" charset="0"/>
                <a:cs typeface="Calibri" panose="020F0502020204030204" pitchFamily="34" charset="0"/>
              </a:rPr>
              <a:t>: Insights into loan purposes, such as debt consolidation and credit card payoff, along with loan statuses (e.g., fully paid), help understand repayment success and loan usage.</a:t>
            </a:r>
            <a:br>
              <a:rPr lang="en-US" sz="2200" b="0" cap="none" dirty="0">
                <a:latin typeface="Sabon Next LT (Body)"/>
                <a:ea typeface="Calibri" panose="020F0502020204030204" pitchFamily="34" charset="0"/>
                <a:cs typeface="Calibri" panose="020F0502020204030204" pitchFamily="34" charset="0"/>
              </a:rPr>
            </a:br>
            <a:r>
              <a:rPr lang="en-US" sz="2200" b="0" u="sng" cap="none" dirty="0">
                <a:latin typeface="Sabon Next LT (Body)"/>
                <a:ea typeface="Calibri" panose="020F0502020204030204" pitchFamily="34" charset="0"/>
                <a:cs typeface="Calibri" panose="020F0502020204030204" pitchFamily="34" charset="0"/>
              </a:rPr>
              <a:t>Verification Status Impact</a:t>
            </a:r>
            <a:r>
              <a:rPr lang="en-US" sz="2200" b="0" cap="none" dirty="0">
                <a:latin typeface="Sabon Next LT (Body)"/>
                <a:ea typeface="Calibri" panose="020F0502020204030204" pitchFamily="34" charset="0"/>
                <a:cs typeface="Calibri" panose="020F0502020204030204" pitchFamily="34" charset="0"/>
              </a:rPr>
              <a:t>: The data highlights differences in loan performance based on verification status, giving a clear view of risk management and borrower reliability.</a:t>
            </a:r>
            <a:br>
              <a:rPr lang="en-IN" sz="2200" b="0" cap="none" dirty="0">
                <a:latin typeface="Sabon Next LT (Body)"/>
                <a:ea typeface="Calibri" panose="020F0502020204030204" pitchFamily="34" charset="0"/>
                <a:cs typeface="Calibri" panose="020F0502020204030204" pitchFamily="34" charset="0"/>
              </a:rPr>
            </a:br>
            <a:endParaRPr lang="en-US" sz="2200" b="0" cap="none" dirty="0">
              <a:latin typeface="Sabon Next LT (Body)"/>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3F1D6C3F-13B5-5CC0-E4A2-27A408231EF3}"/>
              </a:ext>
            </a:extLst>
          </p:cNvPr>
          <p:cNvSpPr txBox="1"/>
          <p:nvPr/>
        </p:nvSpPr>
        <p:spPr>
          <a:xfrm>
            <a:off x="2620297" y="915708"/>
            <a:ext cx="6105832" cy="630942"/>
          </a:xfrm>
          <a:prstGeom prst="rect">
            <a:avLst/>
          </a:prstGeom>
          <a:noFill/>
        </p:spPr>
        <p:txBody>
          <a:bodyPr wrap="square">
            <a:spAutoFit/>
          </a:bodyPr>
          <a:lstStyle/>
          <a:p>
            <a:pPr algn="ctr"/>
            <a:r>
              <a:rPr lang="en-US" sz="3500" dirty="0">
                <a:solidFill>
                  <a:srgbClr val="202C8F"/>
                </a:solidFill>
                <a:latin typeface="Arial Black" panose="020B0A04020102020204" pitchFamily="34" charset="0"/>
              </a:rPr>
              <a:t>Excel Dashboard </a:t>
            </a:r>
            <a:endParaRPr lang="en-IN" sz="3500" dirty="0">
              <a:solidFill>
                <a:srgbClr val="202C8F"/>
              </a:solidFill>
              <a:latin typeface="Arial Black" panose="020B0A04020102020204" pitchFamily="34" charset="0"/>
            </a:endParaRPr>
          </a:p>
        </p:txBody>
      </p:sp>
    </p:spTree>
    <p:extLst>
      <p:ext uri="{BB962C8B-B14F-4D97-AF65-F5344CB8AC3E}">
        <p14:creationId xmlns:p14="http://schemas.microsoft.com/office/powerpoint/2010/main" val="2862007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D2B029-D870-009C-DB10-BFE74829292A}"/>
              </a:ext>
            </a:extLst>
          </p:cNvPr>
          <p:cNvPicPr>
            <a:picLocks noChangeAspect="1"/>
          </p:cNvPicPr>
          <p:nvPr/>
        </p:nvPicPr>
        <p:blipFill>
          <a:blip r:embed="rId3"/>
          <a:stretch>
            <a:fillRect/>
          </a:stretch>
        </p:blipFill>
        <p:spPr>
          <a:xfrm>
            <a:off x="477788" y="1268761"/>
            <a:ext cx="11197863" cy="406032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22917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491614" y="1976284"/>
            <a:ext cx="11385754" cy="4974663"/>
          </a:xfrm>
        </p:spPr>
        <p:txBody>
          <a:bodyPr>
            <a:noAutofit/>
          </a:bodyPr>
          <a:lstStyle/>
          <a:p>
            <a:pPr marL="342900" indent="-342900">
              <a:buFont typeface="Arial" panose="020B0604020202020204" pitchFamily="34" charset="0"/>
              <a:buChar char="•"/>
            </a:pPr>
            <a:r>
              <a:rPr lang="en-US" sz="2000" u="sng" dirty="0">
                <a:latin typeface="Sabon Next LT (Body)"/>
                <a:ea typeface="Calibri" panose="020F0502020204030204" pitchFamily="34" charset="0"/>
                <a:cs typeface="Calibri" panose="020F0502020204030204" pitchFamily="34" charset="0"/>
              </a:rPr>
              <a:t>Total Loan Amounts</a:t>
            </a:r>
            <a:r>
              <a:rPr lang="en-US" sz="2000" dirty="0">
                <a:latin typeface="Sabon Next LT (Body)"/>
                <a:ea typeface="Calibri" panose="020F0502020204030204" pitchFamily="34" charset="0"/>
                <a:cs typeface="Calibri" panose="020F0502020204030204" pitchFamily="34" charset="0"/>
              </a:rPr>
              <a:t>: Highlight the significant figures displayed, such as the total loan amounts of 446M and 373M. Explain what these figures represent and their importance in your analysis.</a:t>
            </a:r>
          </a:p>
          <a:p>
            <a:pPr marL="342900" indent="-342900">
              <a:buFont typeface="Arial" panose="020B0604020202020204" pitchFamily="34" charset="0"/>
              <a:buChar char="•"/>
            </a:pPr>
            <a:r>
              <a:rPr lang="en-US" sz="2000" u="sng" dirty="0">
                <a:latin typeface="Sabon Next LT (Body)"/>
                <a:ea typeface="Calibri" panose="020F0502020204030204" pitchFamily="34" charset="0"/>
                <a:cs typeface="Calibri" panose="020F0502020204030204" pitchFamily="34" charset="0"/>
              </a:rPr>
              <a:t>Average Interest Rate Trends</a:t>
            </a:r>
            <a:r>
              <a:rPr lang="en-US" sz="2000" dirty="0">
                <a:latin typeface="Sabon Next LT (Body)"/>
                <a:ea typeface="Calibri" panose="020F0502020204030204" pitchFamily="34" charset="0"/>
                <a:cs typeface="Calibri" panose="020F0502020204030204" pitchFamily="34" charset="0"/>
              </a:rPr>
              <a:t>: Discuss the average interest rate of 12.02% and use the trend line graph to show how interest rates have fluctuated over time. This can help illustrate the financial environment and its impact on loans.</a:t>
            </a:r>
          </a:p>
          <a:p>
            <a:pPr marL="342900" indent="-342900">
              <a:buFont typeface="Arial" panose="020B0604020202020204" pitchFamily="34" charset="0"/>
              <a:buChar char="•"/>
            </a:pPr>
            <a:r>
              <a:rPr lang="en-US" sz="2000" u="sng" dirty="0">
                <a:latin typeface="Sabon Next LT (Body)"/>
                <a:ea typeface="Calibri" panose="020F0502020204030204" pitchFamily="34" charset="0"/>
                <a:cs typeface="Calibri" panose="020F0502020204030204" pitchFamily="34" charset="0"/>
              </a:rPr>
              <a:t>State-wise Loan Distribution</a:t>
            </a:r>
            <a:r>
              <a:rPr lang="en-US" sz="2000" dirty="0">
                <a:latin typeface="Sabon Next LT (Body)"/>
                <a:ea typeface="Calibri" panose="020F0502020204030204" pitchFamily="34" charset="0"/>
                <a:cs typeface="Calibri" panose="020F0502020204030204" pitchFamily="34" charset="0"/>
              </a:rPr>
              <a:t>: Use the bar chart to explain the distribution of loans across different states. Point out any notable trends or outliers and discuss potential reasons for these variations.</a:t>
            </a:r>
          </a:p>
          <a:p>
            <a:pPr marL="342900" indent="-342900">
              <a:buFont typeface="Arial" panose="020B0604020202020204" pitchFamily="34" charset="0"/>
              <a:buChar char="•"/>
            </a:pPr>
            <a:r>
              <a:rPr lang="en-US" sz="2000" u="sng" dirty="0">
                <a:latin typeface="Sabon Next LT (Body)"/>
                <a:ea typeface="Calibri" panose="020F0502020204030204" pitchFamily="34" charset="0"/>
                <a:cs typeface="Calibri" panose="020F0502020204030204" pitchFamily="34" charset="0"/>
              </a:rPr>
              <a:t>Loan Status Over Time</a:t>
            </a:r>
            <a:r>
              <a:rPr lang="en-US" sz="2000" dirty="0">
                <a:latin typeface="Sabon Next LT (Body)"/>
                <a:ea typeface="Calibri" panose="020F0502020204030204" pitchFamily="34" charset="0"/>
                <a:cs typeface="Calibri" panose="020F0502020204030204" pitchFamily="34" charset="0"/>
              </a:rPr>
              <a:t>: Analyze the line graph that tracks loan statuses over time, such as ‘Current’ versus ‘Fully Paid.’ Highlight any significant trends or changes and their implications for the bank’s loan portfolio.</a:t>
            </a:r>
          </a:p>
          <a:p>
            <a:pPr marL="0" indent="0">
              <a:buNone/>
            </a:pPr>
            <a:endParaRPr lang="en-US" sz="2000" dirty="0">
              <a:latin typeface="Sabon Next LT (Body)"/>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EEF01145-8F4C-6E55-D6D2-664CDCF39446}"/>
              </a:ext>
            </a:extLst>
          </p:cNvPr>
          <p:cNvSpPr txBox="1"/>
          <p:nvPr/>
        </p:nvSpPr>
        <p:spPr>
          <a:xfrm>
            <a:off x="3234813" y="1029618"/>
            <a:ext cx="6096000" cy="553998"/>
          </a:xfrm>
          <a:prstGeom prst="rect">
            <a:avLst/>
          </a:prstGeom>
          <a:noFill/>
        </p:spPr>
        <p:txBody>
          <a:bodyPr wrap="square">
            <a:spAutoFit/>
          </a:bodyPr>
          <a:lstStyle/>
          <a:p>
            <a:pPr algn="ctr"/>
            <a:r>
              <a:rPr lang="en-US" sz="3000" dirty="0">
                <a:solidFill>
                  <a:srgbClr val="202C8F"/>
                </a:solidFill>
                <a:latin typeface="Arial Black" panose="020B0A04020102020204" pitchFamily="34" charset="0"/>
              </a:rPr>
              <a:t>Power BI Dashboard</a:t>
            </a:r>
            <a:endParaRPr lang="en-IN" sz="3000" dirty="0">
              <a:solidFill>
                <a:srgbClr val="202C8F"/>
              </a:solidFill>
              <a:latin typeface="Arial Black" panose="020B0A04020102020204" pitchFamily="34" charset="0"/>
            </a:endParaRPr>
          </a:p>
        </p:txBody>
      </p:sp>
    </p:spTree>
    <p:extLst>
      <p:ext uri="{BB962C8B-B14F-4D97-AF65-F5344CB8AC3E}">
        <p14:creationId xmlns:p14="http://schemas.microsoft.com/office/powerpoint/2010/main" val="918684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179C87F-E1FA-36EF-C840-1DB86C42AC03}"/>
              </a:ext>
            </a:extLst>
          </p:cNvPr>
          <p:cNvPicPr>
            <a:picLocks noChangeAspect="1"/>
          </p:cNvPicPr>
          <p:nvPr/>
        </p:nvPicPr>
        <p:blipFill>
          <a:blip r:embed="rId3"/>
          <a:stretch>
            <a:fillRect/>
          </a:stretch>
        </p:blipFill>
        <p:spPr>
          <a:xfrm>
            <a:off x="1132915" y="837523"/>
            <a:ext cx="10213512" cy="573183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99936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491614" y="1976284"/>
            <a:ext cx="11385754" cy="4974663"/>
          </a:xfrm>
        </p:spPr>
        <p:txBody>
          <a:bodyPr>
            <a:noAutofit/>
          </a:bodyPr>
          <a:lstStyle/>
          <a:p>
            <a:pPr marL="342900" indent="-342900">
              <a:buFont typeface="Arial" panose="020B0604020202020204" pitchFamily="34" charset="0"/>
              <a:buChar char="•"/>
            </a:pPr>
            <a:r>
              <a:rPr lang="en-US" sz="2000" b="1" u="sng" dirty="0"/>
              <a:t>Loan Balances by Grade</a:t>
            </a:r>
            <a:r>
              <a:rPr lang="en-US" sz="2000" dirty="0"/>
              <a:t>: Highlight the distribution of revolving balances across different loan grades and subgrades, as shown in the bar graph. Discuss any significant differences and what they might indicate about loan performance.</a:t>
            </a:r>
          </a:p>
          <a:p>
            <a:pPr marL="342900" indent="-342900">
              <a:buFont typeface="Arial" panose="020B0604020202020204" pitchFamily="34" charset="0"/>
              <a:buChar char="•"/>
            </a:pPr>
            <a:r>
              <a:rPr lang="en-US" sz="2000" b="1" u="sng" dirty="0"/>
              <a:t>Year-over-Year Loan Amount Trends</a:t>
            </a:r>
            <a:r>
              <a:rPr lang="en-US" sz="2000" dirty="0"/>
              <a:t>: Use the area chart to explain the changes in loan amounts over the years. Point out any notable trends or patterns and their potential implications for future lending strategies.</a:t>
            </a:r>
          </a:p>
          <a:p>
            <a:pPr marL="342900" indent="-342900">
              <a:buFont typeface="Arial" panose="020B0604020202020204" pitchFamily="34" charset="0"/>
              <a:buChar char="•"/>
            </a:pPr>
            <a:r>
              <a:rPr lang="en-US" sz="2000" b="1" u="sng" dirty="0"/>
              <a:t>Verification Status Comparison</a:t>
            </a:r>
            <a:r>
              <a:rPr lang="en-US" sz="2000" dirty="0"/>
              <a:t>: Present the pie chart data to compare the proportions of verified versus non-verified loans. Emphasize the importance of loan verification and its impact on loan quality and risk management</a:t>
            </a:r>
          </a:p>
          <a:p>
            <a:pPr marL="342900" indent="-342900">
              <a:buFont typeface="Arial" panose="020B0604020202020204" pitchFamily="34" charset="0"/>
              <a:buChar char="•"/>
            </a:pPr>
            <a:r>
              <a:rPr lang="en-US" sz="2000" dirty="0"/>
              <a:t>    </a:t>
            </a:r>
            <a:r>
              <a:rPr lang="en-US" sz="2000" b="1" u="sng" dirty="0"/>
              <a:t>Geographic Loan Distribution</a:t>
            </a:r>
            <a:r>
              <a:rPr lang="en-US" sz="2000" dirty="0"/>
              <a:t>: Analyze the bar graph showing loan status by state and last credit  </a:t>
            </a:r>
          </a:p>
          <a:p>
            <a:pPr marL="0" indent="0">
              <a:buNone/>
            </a:pPr>
            <a:r>
              <a:rPr lang="en-US" sz="2000" dirty="0"/>
              <a:t>      pull. Discuss any regional trends or outliers and what they might mean for the bank’s regional strategies.</a:t>
            </a:r>
          </a:p>
        </p:txBody>
      </p:sp>
      <p:sp>
        <p:nvSpPr>
          <p:cNvPr id="3" name="TextBox 2">
            <a:extLst>
              <a:ext uri="{FF2B5EF4-FFF2-40B4-BE49-F238E27FC236}">
                <a16:creationId xmlns:a16="http://schemas.microsoft.com/office/drawing/2014/main" id="{EEF01145-8F4C-6E55-D6D2-664CDCF39446}"/>
              </a:ext>
            </a:extLst>
          </p:cNvPr>
          <p:cNvSpPr txBox="1"/>
          <p:nvPr/>
        </p:nvSpPr>
        <p:spPr>
          <a:xfrm>
            <a:off x="3234813" y="1029618"/>
            <a:ext cx="6096000" cy="630942"/>
          </a:xfrm>
          <a:prstGeom prst="rect">
            <a:avLst/>
          </a:prstGeom>
          <a:noFill/>
        </p:spPr>
        <p:txBody>
          <a:bodyPr wrap="square">
            <a:spAutoFit/>
          </a:bodyPr>
          <a:lstStyle/>
          <a:p>
            <a:pPr algn="ctr"/>
            <a:r>
              <a:rPr lang="en-US" sz="3500" b="1" dirty="0">
                <a:solidFill>
                  <a:srgbClr val="202C8F"/>
                </a:solidFill>
                <a:latin typeface="Arial Black" panose="020B0A04020102020204" pitchFamily="34" charset="0"/>
                <a:ea typeface="Calibri" panose="020F0502020204030204" pitchFamily="34" charset="0"/>
                <a:cs typeface="Calibri" panose="020F0502020204030204" pitchFamily="34" charset="0"/>
              </a:rPr>
              <a:t>Tableau Dashboard</a:t>
            </a:r>
            <a:endParaRPr lang="en-IN" sz="3500" b="1" dirty="0">
              <a:solidFill>
                <a:srgbClr val="202C8F"/>
              </a:solidFill>
              <a:latin typeface="Arial Black" panose="020B0A0402010202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56304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F1A00A-56DA-2D0A-1B43-C8C3EC4A1072}"/>
              </a:ext>
            </a:extLst>
          </p:cNvPr>
          <p:cNvPicPr>
            <a:picLocks noChangeAspect="1"/>
          </p:cNvPicPr>
          <p:nvPr/>
        </p:nvPicPr>
        <p:blipFill>
          <a:blip r:embed="rId3"/>
          <a:stretch>
            <a:fillRect/>
          </a:stretch>
        </p:blipFill>
        <p:spPr>
          <a:xfrm>
            <a:off x="587939" y="1035601"/>
            <a:ext cx="11016122" cy="56113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09353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924232" y="2433484"/>
            <a:ext cx="10835148" cy="4424516"/>
          </a:xfrm>
        </p:spPr>
        <p:txBody>
          <a:bodyPr/>
          <a:lstStyle/>
          <a:p>
            <a:r>
              <a:rPr lang="en-US" sz="2200" b="0" dirty="0">
                <a:latin typeface="Calibri" panose="020F0502020204030204" pitchFamily="34" charset="0"/>
                <a:ea typeface="Calibri" panose="020F0502020204030204" pitchFamily="34" charset="0"/>
                <a:cs typeface="Calibri" panose="020F0502020204030204" pitchFamily="34" charset="0"/>
              </a:rPr>
              <a:t>1. Based on the analysis of the dataset, debt consolidation emerges as the primary reason for borrowing, followed by credit card payoffs, showing that borrowers often use loans to manage existing debts. </a:t>
            </a:r>
            <a:br>
              <a:rPr lang="en-US" sz="2200" b="0" dirty="0">
                <a:latin typeface="Calibri" panose="020F0502020204030204" pitchFamily="34" charset="0"/>
                <a:ea typeface="Calibri" panose="020F0502020204030204" pitchFamily="34" charset="0"/>
                <a:cs typeface="Calibri" panose="020F0502020204030204" pitchFamily="34" charset="0"/>
              </a:rPr>
            </a:br>
            <a:br>
              <a:rPr lang="en-US" sz="2200" b="0" dirty="0">
                <a:latin typeface="Calibri" panose="020F0502020204030204" pitchFamily="34" charset="0"/>
                <a:ea typeface="Calibri" panose="020F0502020204030204" pitchFamily="34" charset="0"/>
                <a:cs typeface="Calibri" panose="020F0502020204030204" pitchFamily="34" charset="0"/>
              </a:rPr>
            </a:br>
            <a:r>
              <a:rPr lang="en-US" sz="2200" b="0" dirty="0">
                <a:latin typeface="Calibri" panose="020F0502020204030204" pitchFamily="34" charset="0"/>
                <a:ea typeface="Calibri" panose="020F0502020204030204" pitchFamily="34" charset="0"/>
                <a:cs typeface="Calibri" panose="020F0502020204030204" pitchFamily="34" charset="0"/>
              </a:rPr>
              <a:t>2. The interest rates are aligned with the loan grades, where lower-grade loans come with higher interest rates, indicating a higher risk for lenders. </a:t>
            </a:r>
            <a:br>
              <a:rPr lang="en-US" sz="2200" b="0" dirty="0">
                <a:latin typeface="Calibri" panose="020F0502020204030204" pitchFamily="34" charset="0"/>
                <a:ea typeface="Calibri" panose="020F0502020204030204" pitchFamily="34" charset="0"/>
                <a:cs typeface="Calibri" panose="020F0502020204030204" pitchFamily="34" charset="0"/>
              </a:rPr>
            </a:br>
            <a:r>
              <a:rPr lang="en-US" sz="2200" b="0" dirty="0">
                <a:latin typeface="Calibri" panose="020F0502020204030204" pitchFamily="34" charset="0"/>
                <a:ea typeface="Calibri" panose="020F0502020204030204" pitchFamily="34" charset="0"/>
                <a:cs typeface="Calibri" panose="020F0502020204030204" pitchFamily="34" charset="0"/>
              </a:rPr>
              <a:t>Fully paid loans dominate the dataset, which suggests a strong repayment trend among borrowers. </a:t>
            </a:r>
            <a:br>
              <a:rPr lang="en-US" sz="2200" b="0" dirty="0">
                <a:latin typeface="Calibri" panose="020F0502020204030204" pitchFamily="34" charset="0"/>
                <a:ea typeface="Calibri" panose="020F0502020204030204" pitchFamily="34" charset="0"/>
                <a:cs typeface="Calibri" panose="020F0502020204030204" pitchFamily="34" charset="0"/>
              </a:rPr>
            </a:br>
            <a:br>
              <a:rPr lang="en-US" sz="2200" b="0" dirty="0">
                <a:latin typeface="Calibri" panose="020F0502020204030204" pitchFamily="34" charset="0"/>
                <a:ea typeface="Calibri" panose="020F0502020204030204" pitchFamily="34" charset="0"/>
                <a:cs typeface="Calibri" panose="020F0502020204030204" pitchFamily="34" charset="0"/>
              </a:rPr>
            </a:br>
            <a:r>
              <a:rPr lang="en-US" sz="2200" b="0" dirty="0">
                <a:latin typeface="Calibri" panose="020F0502020204030204" pitchFamily="34" charset="0"/>
                <a:ea typeface="Calibri" panose="020F0502020204030204" pitchFamily="34" charset="0"/>
                <a:cs typeface="Calibri" panose="020F0502020204030204" pitchFamily="34" charset="0"/>
              </a:rPr>
              <a:t>3. The data also highlights regional borrowing patterns, with states like California and New York showing higher loan activity. </a:t>
            </a:r>
            <a:br>
              <a:rPr lang="en-US" sz="2200" b="0" dirty="0">
                <a:latin typeface="Calibri" panose="020F0502020204030204" pitchFamily="34" charset="0"/>
                <a:ea typeface="Calibri" panose="020F0502020204030204" pitchFamily="34" charset="0"/>
                <a:cs typeface="Calibri" panose="020F0502020204030204" pitchFamily="34" charset="0"/>
              </a:rPr>
            </a:br>
            <a:r>
              <a:rPr lang="en-US" sz="2200" b="0" dirty="0">
                <a:latin typeface="Calibri" panose="020F0502020204030204" pitchFamily="34" charset="0"/>
                <a:ea typeface="Calibri" panose="020F0502020204030204" pitchFamily="34" charset="0"/>
                <a:cs typeface="Calibri" panose="020F0502020204030204" pitchFamily="34" charset="0"/>
              </a:rPr>
              <a:t>Lastly, loans that are verified tend to perform better, underlining the importance of verification in improving loan outcomes.</a:t>
            </a:r>
            <a:br>
              <a:rPr lang="en-IN" sz="2200" b="0" dirty="0">
                <a:latin typeface="Calibri" panose="020F0502020204030204" pitchFamily="34" charset="0"/>
                <a:ea typeface="Calibri" panose="020F0502020204030204" pitchFamily="34" charset="0"/>
                <a:cs typeface="Calibri" panose="020F0502020204030204" pitchFamily="34" charset="0"/>
              </a:rPr>
            </a:br>
            <a:endParaRPr lang="en-IN" sz="2200" b="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0B434E5F-784C-855E-A4F9-C5427139DF93}"/>
              </a:ext>
            </a:extLst>
          </p:cNvPr>
          <p:cNvSpPr txBox="1"/>
          <p:nvPr/>
        </p:nvSpPr>
        <p:spPr>
          <a:xfrm>
            <a:off x="2531806" y="877218"/>
            <a:ext cx="6105832" cy="553998"/>
          </a:xfrm>
          <a:prstGeom prst="rect">
            <a:avLst/>
          </a:prstGeom>
          <a:noFill/>
        </p:spPr>
        <p:txBody>
          <a:bodyPr wrap="square">
            <a:spAutoFit/>
          </a:bodyPr>
          <a:lstStyle/>
          <a:p>
            <a:pPr algn="ctr"/>
            <a:r>
              <a:rPr lang="en-US" sz="3000" b="1" dirty="0">
                <a:solidFill>
                  <a:srgbClr val="202C8F"/>
                </a:solidFill>
                <a:latin typeface="+mj-lt"/>
              </a:rPr>
              <a:t>Conclusion</a:t>
            </a:r>
            <a:endParaRPr lang="en-IN" sz="3000" b="1" dirty="0">
              <a:solidFill>
                <a:srgbClr val="202C8F"/>
              </a:solidFill>
              <a:latin typeface="+mj-lt"/>
            </a:endParaRPr>
          </a:p>
        </p:txBody>
      </p:sp>
    </p:spTree>
    <p:extLst>
      <p:ext uri="{BB962C8B-B14F-4D97-AF65-F5344CB8AC3E}">
        <p14:creationId xmlns:p14="http://schemas.microsoft.com/office/powerpoint/2010/main" val="4025267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7DCC342-9FD1-7055-EAAC-008DC851B13F}"/>
              </a:ext>
            </a:extLst>
          </p:cNvPr>
          <p:cNvSpPr>
            <a:spLocks noGrp="1"/>
          </p:cNvSpPr>
          <p:nvPr>
            <p:ph type="body" sz="quarter" idx="13"/>
          </p:nvPr>
        </p:nvSpPr>
        <p:spPr>
          <a:xfrm>
            <a:off x="570271" y="1651817"/>
            <a:ext cx="11095703" cy="4669743"/>
          </a:xfrm>
        </p:spPr>
        <p:txBody>
          <a:bodyPr/>
          <a:lstStyle/>
          <a:p>
            <a:pPr marL="342900" indent="-342900">
              <a:buFont typeface="Arial" panose="020B0604020202020204" pitchFamily="34" charset="0"/>
              <a:buChar char="•"/>
            </a:pPr>
            <a:r>
              <a:rPr lang="en-US" dirty="0"/>
              <a:t>Enhance Borrower Verification: Focus on increasing the percentage of verified loans as these have better repayment rates, reducing defaults and improving overall loan performance.</a:t>
            </a:r>
          </a:p>
          <a:p>
            <a:pPr marL="342900" indent="-342900">
              <a:buFont typeface="Arial" panose="020B0604020202020204" pitchFamily="34" charset="0"/>
              <a:buChar char="•"/>
            </a:pPr>
            <a:r>
              <a:rPr lang="en-US" dirty="0"/>
              <a:t>Target High-Risk Borrowers: Implement stricter credit assessments and higher interest rates for lower-grade borrowers to compensate for the increased risk, while offering tailored repayment plans.</a:t>
            </a:r>
          </a:p>
          <a:p>
            <a:pPr marL="342900" indent="-342900">
              <a:buFont typeface="Arial" panose="020B0604020202020204" pitchFamily="34" charset="0"/>
              <a:buChar char="•"/>
            </a:pPr>
            <a:r>
              <a:rPr lang="en-US" dirty="0"/>
              <a:t>Expand Geographic Focus: Analyze underrepresented regions and expand lending in states with fewer loans but high potential, diversifying the loan portfolio geographically.</a:t>
            </a:r>
          </a:p>
          <a:p>
            <a:pPr marL="342900" indent="-342900">
              <a:buFont typeface="Arial" panose="020B0604020202020204" pitchFamily="34" charset="0"/>
              <a:buChar char="•"/>
            </a:pPr>
            <a:r>
              <a:rPr lang="en-US" dirty="0"/>
              <a:t>Promote Debt Consolidation: Since debt consolidation is the most common loan purpose, consider offering incentives or special packages for borrowers consolidating high-interest debts.</a:t>
            </a:r>
          </a:p>
          <a:p>
            <a:pPr marL="342900" indent="-342900">
              <a:buFont typeface="Arial" panose="020B0604020202020204" pitchFamily="34" charset="0"/>
              <a:buChar char="•"/>
            </a:pPr>
            <a:r>
              <a:rPr lang="en-US" dirty="0"/>
              <a:t>Optimize Loan Terms: Explore offering more flexible loan terms beyond the common 36-month period to meet a wider range of borrower needs and improve repayment convenience.</a:t>
            </a:r>
          </a:p>
          <a:p>
            <a:pPr marL="342900" indent="-342900">
              <a:buFont typeface="Arial" panose="020B0604020202020204" pitchFamily="34" charset="0"/>
              <a:buChar char="•"/>
            </a:pPr>
            <a:r>
              <a:rPr lang="en-US" dirty="0"/>
              <a:t>Data-Driven Marketing: Use the insights from borrower profiles, such as loan purposes and repayment behaviors, to design targeted marketing campaigns that attract reliable borrowers and reduce churn.</a:t>
            </a:r>
            <a:endParaRPr lang="en-IN" dirty="0"/>
          </a:p>
          <a:p>
            <a:endParaRPr lang="en-IN" dirty="0"/>
          </a:p>
        </p:txBody>
      </p:sp>
      <p:sp>
        <p:nvSpPr>
          <p:cNvPr id="9" name="Title 8">
            <a:extLst>
              <a:ext uri="{FF2B5EF4-FFF2-40B4-BE49-F238E27FC236}">
                <a16:creationId xmlns:a16="http://schemas.microsoft.com/office/drawing/2014/main" id="{1170873A-6282-7CCB-05DE-0F62B062AC83}"/>
              </a:ext>
            </a:extLst>
          </p:cNvPr>
          <p:cNvSpPr>
            <a:spLocks noGrp="1"/>
          </p:cNvSpPr>
          <p:nvPr>
            <p:ph type="title"/>
          </p:nvPr>
        </p:nvSpPr>
        <p:spPr>
          <a:xfrm>
            <a:off x="1786537" y="536439"/>
            <a:ext cx="9879437" cy="552774"/>
          </a:xfrm>
        </p:spPr>
        <p:txBody>
          <a:bodyPr/>
          <a:lstStyle/>
          <a:p>
            <a:pPr algn="ctr"/>
            <a:r>
              <a:rPr lang="en-US" sz="2400" dirty="0">
                <a:solidFill>
                  <a:srgbClr val="202C8F"/>
                </a:solidFill>
                <a:latin typeface="Arial Black" panose="020B0A04020102020204" pitchFamily="34" charset="0"/>
              </a:rPr>
              <a:t>Suggestions to the Company to improve performance</a:t>
            </a:r>
            <a:endParaRPr lang="en-IN" sz="2400" dirty="0">
              <a:latin typeface="Arial Black" panose="020B0A04020102020204" pitchFamily="34" charset="0"/>
            </a:endParaRPr>
          </a:p>
        </p:txBody>
      </p:sp>
    </p:spTree>
    <p:extLst>
      <p:ext uri="{BB962C8B-B14F-4D97-AF65-F5344CB8AC3E}">
        <p14:creationId xmlns:p14="http://schemas.microsoft.com/office/powerpoint/2010/main" val="3969996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solidFill>
                  <a:srgbClr val="202C8F"/>
                </a:solidFill>
              </a:rPr>
              <a:t>THANK YOU </a:t>
            </a:r>
            <a:endParaRPr lang="en-IN" dirty="0">
              <a:solidFill>
                <a:srgbClr val="202C8F"/>
              </a:solidFill>
            </a:endParaRP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{9B8AB56A-0CD8-46DE-AE53-DDA1561D8895}tf78438558_win32</Template>
  <TotalTime>99</TotalTime>
  <Words>1041</Words>
  <Application>Microsoft Office PowerPoint</Application>
  <PresentationFormat>Widescreen</PresentationFormat>
  <Paragraphs>30</Paragraphs>
  <Slides>14</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Black</vt:lpstr>
      <vt:lpstr>Bell MT</vt:lpstr>
      <vt:lpstr>Calibri</vt:lpstr>
      <vt:lpstr>Sabon Next LT</vt:lpstr>
      <vt:lpstr>Sabon Next LT (Body)</vt:lpstr>
      <vt:lpstr>Custom</vt:lpstr>
      <vt:lpstr>Bank Loan Project</vt:lpstr>
      <vt:lpstr> Loan details: The dataset contains key information such as loan amounts, interest rates, terms, and installments for various loans.  Borrower information: Includes member ids, verification status, and loan purpose (e.g., debt consolidation, credit card payoff). Loan grades: Each loan is categorized into grades and sub-grades, reflecting the borrower's credit risk. Payment status: Contains data on loan statuses (e.g., fully paid), along with zip codes and state information of the borrowers. Issue date: The dataset includes loan issuance dates, providing a timeline of when loans were granted.    </vt:lpstr>
      <vt:lpstr>        Objective: Analyze key KPIs like year-wise loan amounts, grade-wise revolving balances, and payments by verification status to understand loan performance. Key insights: The analysis reveals trends in loan issuance, payment patterns across different verification statuses, and the impact of homeownership on repayment behavior. Techniques: Aggregation, grouping, and joins were used in sql queries to summarize the data for actionable insights. SAM model: S for storing data: efficiently store bank loan data in structured databases. A for analyzing data: use SQL queries to extract and interpret key insights. M for modifying data: clean and modify data for better analysis and reporting. </vt:lpstr>
      <vt:lpstr>Year wise loan amount stats</vt:lpstr>
      <vt:lpstr>Grade and subgrade wise Revol_bal</vt:lpstr>
      <vt:lpstr>Loan Distribution by Amount and Term: The dashboard provides a breakdown of loans by the amount issued and loan terms (e.g., 36 months), highlighting the most common loan structures. Interest Rate Analysis: It showcases how interest rates vary across different loan grades and sub-grades, providing insights into credit risk and pricing strategies. Geographical Insights: The dashboard includes data on borrower locations (zip codes and states), offering a view of regional lending patterns and trends. Loan Purpose and Status: Insights into loan purposes, such as debt consolidation and credit card payoff, along with loan statuses (e.g., fully paid), help understand repayment success and loan usage. Verification Status Impact: The data highlights differences in loan performance based on verification status, giving a clear view of risk management and borrower reliability. </vt:lpstr>
      <vt:lpstr>PowerPoint Presentation</vt:lpstr>
      <vt:lpstr>PowerPoint Presentation</vt:lpstr>
      <vt:lpstr>PowerPoint Presentation</vt:lpstr>
      <vt:lpstr>PowerPoint Presentation</vt:lpstr>
      <vt:lpstr>PowerPoint Presentation</vt:lpstr>
      <vt:lpstr>1. Based on the analysis of the dataset, debt consolidation emerges as the primary reason for borrowing, followed by credit card payoffs, showing that borrowers often use loans to manage existing debts.   2. The interest rates are aligned with the loan grades, where lower-grade loans come with higher interest rates, indicating a higher risk for lenders.  Fully paid loans dominate the dataset, which suggests a strong repayment trend among borrowers.   3. The data also highlights regional borrowing patterns, with states like California and New York showing higher loan activity.  Lastly, loans that are verified tend to perform better, underlining the importance of verification in improving loan outcomes. </vt:lpstr>
      <vt:lpstr>Suggestions to the Company to improve performance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Sumeet Gupta</dc:creator>
  <cp:lastModifiedBy>NIKHIL JANGIR</cp:lastModifiedBy>
  <cp:revision>5</cp:revision>
  <dcterms:created xsi:type="dcterms:W3CDTF">2024-09-24T03:20:38Z</dcterms:created>
  <dcterms:modified xsi:type="dcterms:W3CDTF">2026-05-02T12:06:19Z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